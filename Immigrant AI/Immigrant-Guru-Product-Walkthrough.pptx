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 GURU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how it works</a:t>
            </a:r>
            <a:endParaRPr lang="en-US" sz="4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by step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walkthrough for everyone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www.immigrant.guru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Immigrant Guru?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you want to move to another country.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know which visa to apply for.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know if you qualify.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know what documents you need.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8046720" cy="1188720"/>
          </a:xfrm>
          <a:prstGeom prst="roundRect">
            <a:avLst>
              <a:gd name="adj" fmla="val 11538"/>
            </a:avLst>
          </a:prstGeom>
          <a:solidFill>
            <a:srgbClr val="0071E3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2918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Immigrant Guru solves all of this — with AI.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365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land on the website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02920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63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Navigate immigration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clarity.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visa pathways, build your profile,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get AI-powered recommendations.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337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free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Beautiful design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Apple-inspired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effects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animations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 needed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365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sign up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86000" y="1188720"/>
            <a:ext cx="45720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your account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51760" y="1920240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name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423160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2423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name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2926080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1760" y="3429000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3429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3977640"/>
            <a:ext cx="3840480" cy="411480"/>
          </a:xfrm>
          <a:prstGeom prst="roundRect">
            <a:avLst>
              <a:gd name="adj" fmla="val 48889"/>
            </a:avLst>
          </a:pr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2651760" y="3977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account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2743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 to sign up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You're in.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 onboarding starts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a boring form...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question at a time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overwhelming forms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97480" y="182880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Tap to select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8036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Pretty pill buttons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82880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easy steps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in 2 minutes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95160" y="182880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Skip anything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7804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mandatory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a conversation, not a form.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are you?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411480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3566160" cy="384048"/>
          </a:xfrm>
          <a:prstGeom prst="roundRect">
            <a:avLst>
              <a:gd name="adj" fmla="val 2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Turkish, Brazilian...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status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697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97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57400" y="2697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2697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Married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697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697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Divorced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56616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566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     2     +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Just tap to select!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03520" y="23774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Pretty pill buttons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feel fun,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like paperwork.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STEP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do you want to go?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 you want to move?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months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year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visa refusals before?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292608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9260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48840" y="292608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29260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92608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9260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is private and secure.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3520440"/>
            <a:ext cx="228600" cy="228600"/>
          </a:xfrm>
          <a:prstGeom prst="ellipse">
            <a:avLst/>
          </a:prstGeom>
          <a:solidFill>
            <a:srgbClr val="059669">
              <a:alpha val="20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STEP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background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level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School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691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Bachelor's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Master's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691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level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260604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606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03120" y="260604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2606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260604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606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60604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606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60604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606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89520" y="260604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2606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200400"/>
            <a:ext cx="384048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experience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3657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-       10       +  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4754880" y="3200400"/>
            <a:ext cx="384048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capital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3657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$ 50,000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COMPLETE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You're all set!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194560" cy="2194560"/>
          </a:xfrm>
          <a:prstGeom prst="ellipse">
            <a:avLst/>
          </a:prstGeom>
          <a:solidFill>
            <a:srgbClr val="0F172A"/>
          </a:solidFill>
          <a:ln w="1016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691640"/>
            <a:ext cx="2103120" cy="2103120"/>
          </a:xfrm>
          <a:prstGeom prst="ellipse">
            <a:avLst/>
          </a:prstGeom>
          <a:solidFill>
            <a:srgbClr val="0F172A"/>
          </a:solidFill>
          <a:ln w="76200">
            <a:solidFill>
              <a:srgbClr val="0071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459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0" y="3977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readiness score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 rewarding! Now let's go to the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365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command center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one screen.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1965960" cy="20116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63040"/>
            <a:ext cx="196596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45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76.5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697480" y="1463040"/>
            <a:ext cx="1965960" cy="20116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97480" y="1463040"/>
            <a:ext cx="19659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2880360" y="1645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2240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846320" y="1463040"/>
            <a:ext cx="1965960" cy="20116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4630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645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240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 mo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995160" y="1463040"/>
            <a:ext cx="1965960" cy="20116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95160" y="1463040"/>
            <a:ext cx="19659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1645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Best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2240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resume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you see the big picture at a glance.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365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your first case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371600" y="1188720"/>
            <a:ext cx="640080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Immigration Case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2194560"/>
            <a:ext cx="5669280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194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EB-2 NIW Application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country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37360" y="2834640"/>
            <a:ext cx="5669280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program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37360" y="3474720"/>
            <a:ext cx="5669280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474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EB-2 NIW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sec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9144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create a case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READINESS SCORE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ready are you?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20040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459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76.5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100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2103120" cy="18288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3200400"/>
            <a:ext cx="1554480" cy="18288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and explainable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1463040"/>
            <a:ext cx="457200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0" y="1463040"/>
            <a:ext cx="73152" cy="64008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463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completeness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1463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114800" y="2240280"/>
            <a:ext cx="457200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0" y="2240280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strength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0" y="2240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114800" y="3017520"/>
            <a:ext cx="457200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0" y="3017520"/>
            <a:ext cx="73152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readiness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0" y="3017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114800" y="3794760"/>
            <a:ext cx="457200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0" y="3794760"/>
            <a:ext cx="73152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readiness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0" y="3794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Strategy Generation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965960" cy="256032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828800"/>
            <a:ext cx="640080" cy="64008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Click 'Get AI Strategy'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button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97480" y="1645920"/>
            <a:ext cx="1965960" cy="256032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1828800"/>
            <a:ext cx="640080" cy="64008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88036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 your question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8036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'What are my best options?'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645920"/>
            <a:ext cx="1965960" cy="256032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1828800"/>
            <a:ext cx="640080" cy="64008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02920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Wait 10-15 seconds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analyzes your profile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95160" y="1645920"/>
            <a:ext cx="1965960" cy="256032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7635240" y="1828800"/>
            <a:ext cx="640080" cy="64008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17804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Plan A / B / 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7804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gives you three strategies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560320" cy="34747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EB-2 NIW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strongest option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profile fit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2788920"/>
            <a:ext cx="21031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529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complexity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172968"/>
            <a:ext cx="21031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369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 months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3557016"/>
            <a:ext cx="21031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210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employer needed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3941064"/>
            <a:ext cx="21031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3383280" y="1097280"/>
            <a:ext cx="2560320" cy="34747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1097280"/>
            <a:ext cx="25603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1188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H-1B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1188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backup plan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11880" y="2468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required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11880" y="2788920"/>
            <a:ext cx="21031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28529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lottery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11880" y="3172968"/>
            <a:ext cx="21031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3611880" y="32369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months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11880" y="3557016"/>
            <a:ext cx="21031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36210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path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11880" y="3941064"/>
            <a:ext cx="21031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1097280"/>
            <a:ext cx="2560320" cy="34747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4652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EB-1A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44652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option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2468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bar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46520" y="2788920"/>
            <a:ext cx="21031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28529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Extraordinary ability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46520" y="3172968"/>
            <a:ext cx="21031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2369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months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46520" y="3557016"/>
            <a:ext cx="21031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36210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credentials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46520" y="3941064"/>
            <a:ext cx="2103120" cy="4572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tells you how confident it 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256032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data, good match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recommended pathways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does it mean?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192024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1920240"/>
            <a:ext cx="54864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data, good match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0604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0" y="260604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gaps, decent match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329184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0" y="329184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3291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info, unclear fit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explains WHY it's confident or not.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 and AI does the rest.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88720" y="1554480"/>
            <a:ext cx="640080" cy="640080"/>
          </a:xfrm>
          <a:prstGeom prst="ellipse">
            <a:avLst/>
          </a:prstGeom>
          <a:solidFill>
            <a:srgbClr val="0071E3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and drop your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passport, resume,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statements...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97480" y="137160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554480"/>
            <a:ext cx="640080" cy="640080"/>
          </a:xfrm>
          <a:prstGeom prst="ellipse">
            <a:avLst/>
          </a:prstGeom>
          <a:solidFill>
            <a:srgbClr val="0071E3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88036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880360" y="27432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automatically knows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type of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it 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1554480"/>
            <a:ext cx="640080" cy="640080"/>
          </a:xfrm>
          <a:prstGeom prst="ellipse">
            <a:avLst/>
          </a:prstGeom>
          <a:solidFill>
            <a:srgbClr val="0071E3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0" y="27432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verifies if the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is complete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valid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95160" y="137160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35240" y="1554480"/>
            <a:ext cx="640080" cy="640080"/>
          </a:xfrm>
          <a:prstGeom prst="ellipse">
            <a:avLst/>
          </a:prstGeom>
          <a:solidFill>
            <a:srgbClr val="0071E3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7804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178040" y="27432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finds issues and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you what's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CHECKLIST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always know what's next.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Required for EB-2 NIW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274320" cy="274320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(valid for 6+ months)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468880"/>
            <a:ext cx="274320" cy="274320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/ CV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2880360"/>
            <a:ext cx="274320" cy="274320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credentials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291840"/>
            <a:ext cx="274320" cy="27432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statements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letters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of 5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4008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 CHAT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ChatGPT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but for immigration.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0" y="1828800"/>
            <a:ext cx="4754880" cy="640080"/>
          </a:xfrm>
          <a:prstGeom prst="roundRect">
            <a:avLst>
              <a:gd name="adj" fmla="val 17143"/>
            </a:avLst>
          </a:pr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18288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I apply for EB-2 or EB-1?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606040"/>
            <a:ext cx="594360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6060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your profile with a Master's degree and 10 years of experience, EB-2 NIW is your strongest option. EB-1A requires extraordinary ability evidence...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3383280"/>
            <a:ext cx="4754880" cy="640080"/>
          </a:xfrm>
          <a:prstGeom prst="roundRect">
            <a:avLst>
              <a:gd name="adj" fmla="val 17143"/>
            </a:avLst>
          </a:pr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33832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I get 5 more years experience?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4160520"/>
            <a:ext cx="594360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605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15 years, your EB-1A eligibility improves significantly. Your probability would increase from 42% to 68%.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answers with sources. Ask anything about your case.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SIMULATION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if I change something?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3716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Master's degree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13716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137160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-&gt;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17920" y="13716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89520" y="137160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804672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5146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$30K more capital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25146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 mo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0" y="251460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-&gt;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25146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 mo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89520" y="251460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804672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36576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Canada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800" y="36576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EB-2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365760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-&gt;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36576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Express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Entry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589520" y="365760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pathway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with scenarios before committing to a path.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COMPARISON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Compare countries side by side.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8" name="Shape 6"/>
          <p:cNvSpPr/>
          <p:nvPr/>
        </p:nvSpPr>
        <p:spPr>
          <a:xfrm>
            <a:off x="2926080" y="1325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Canada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66560" y="1325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Germany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0" y="1947672"/>
            <a:ext cx="18288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12-18 mo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947672"/>
            <a:ext cx="18288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6-12 mo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1947672"/>
            <a:ext cx="18288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3-6 mo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2496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80360" y="24963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24963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0840" y="24963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0266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estimate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926080" y="3008376"/>
            <a:ext cx="18288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30266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$8,000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3008376"/>
            <a:ext cx="18288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0266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$3,500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66560" y="3008376"/>
            <a:ext cx="18288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30266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$2,000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35570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880360" y="35570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00600" y="35570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20840" y="35570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68680" y="4087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pathway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926080" y="4069080"/>
            <a:ext cx="18288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2880360" y="4087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EB-2 NIW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846320" y="4069080"/>
            <a:ext cx="18288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4087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Express Entry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766560" y="4069080"/>
            <a:ext cx="18288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6720840" y="4087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 Seeker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informed decisions with data.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PROJECTION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 when things will happen.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749808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377440"/>
            <a:ext cx="502920" cy="50292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2377440"/>
            <a:ext cx="502920" cy="50292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30175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36576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377440"/>
            <a:ext cx="502920" cy="50292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30175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6576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2377440"/>
            <a:ext cx="502920" cy="50292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30175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36576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41080" y="2377440"/>
            <a:ext cx="502920" cy="50292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8641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30175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21040" y="36576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can plan your life around your immigration journey.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 perfectly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 your phone.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743200" cy="32918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6459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76.5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Probability: 68%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14 mo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4114800"/>
            <a:ext cx="27432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  Cases    Profile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navigation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features 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anywhere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PRIVACY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data is safe.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965960" cy="23774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88720" y="1554480"/>
            <a:ext cx="640080" cy="640080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Bank-level encryption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 in transit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HSTS preload enabled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97480" y="1371600"/>
            <a:ext cx="1965960" cy="23774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554480"/>
            <a:ext cx="640080" cy="640080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8036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eyes only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80360" y="27432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you can see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1965960" cy="23774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1554480"/>
            <a:ext cx="640080" cy="640080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2920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third-party sharing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27432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sell or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your information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95160" y="1371600"/>
            <a:ext cx="1965960" cy="23774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35240" y="1554480"/>
            <a:ext cx="640080" cy="640080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7804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audit trail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27432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is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securely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immigrant.guru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US DIFFERENT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 cheaper. 100x faster.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840480" cy="2926080"/>
          </a:xfrm>
          <a:prstGeom prst="roundRect">
            <a:avLst>
              <a:gd name="adj" fmla="val 4688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Traditional Lawyer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$5,000 - $15,000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waiting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opinion only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hours only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scenario testing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transparency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840480" cy="2926080"/>
          </a:xfrm>
          <a:prstGeom prst="roundRect">
            <a:avLst>
              <a:gd name="adj" fmla="val 4688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27000" dist="381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Immigrant Guru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$29 / month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20640" y="25603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AI results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strategies (A/B/C)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24/7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simulation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data transparency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IMMIGRANT GURU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Navigate Immigration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Clarity.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0" y="3291840"/>
            <a:ext cx="1828800" cy="5486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0" y="356616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3566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free 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251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www.immigrant.guru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burak@immigrant.guru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Immigrant Guru - Product Walkthrough</dc:title>
  <dc:subject>PptxGenJS Presentation</dc:subject>
  <dc:creator>Immigrant Guru</dc:creator>
  <cp:lastModifiedBy>Immigrant Guru</cp:lastModifiedBy>
  <cp:revision>1</cp:revision>
  <dcterms:created xsi:type="dcterms:W3CDTF">2026-04-05T00:28:54Z</dcterms:created>
  <dcterms:modified xsi:type="dcterms:W3CDTF">2026-04-05T00:28:54Z</dcterms:modified>
</cp:coreProperties>
</file>